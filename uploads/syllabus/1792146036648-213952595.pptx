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57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060"/>
                </a:solidFill>
                <a:latin typeface="Arial"/>
              </a:defRPr>
            </a:pPr>
            <a:r>
              <a:t>Pengantar Business Model Canvas</a:t>
            </a:r>
          </a:p>
          <a:p>
            <a:pPr>
              <a:spcBef>
                <a:spcPts val="1400"/>
              </a:spcBef>
              <a:defRPr sz="2200">
                <a:solidFill>
                  <a:srgbClr val="3182CE"/>
                </a:solidFill>
                <a:latin typeface="Arial"/>
              </a:defRPr>
            </a:pPr>
            <a:r>
              <a:t>Modul Silabus Pembelajaran LMS Kesatria</a:t>
            </a:r>
          </a:p>
          <a:p>
            <a:pPr>
              <a:spcBef>
                <a:spcPts val="800"/>
              </a:spcBef>
              <a:defRPr sz="1600">
                <a:solidFill>
                  <a:srgbClr val="718096"/>
                </a:solidFill>
                <a:latin typeface="Arial"/>
              </a:defRPr>
            </a:pPr>
            <a:r>
              <a:t>Menyusun dan memetakan model bisnis dalam satu halaman kanvas visual.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060"/>
                </a:solidFill>
                <a:latin typeface="Arial"/>
              </a:defRPr>
            </a:pPr>
            <a:r>
              <a:t>Tujuan Pembelajaran</a:t>
            </a:r>
          </a:p>
          <a:p>
            <a:pPr>
              <a:spcBef>
                <a:spcPts val="400"/>
              </a:spcBef>
              <a:defRPr sz="1400">
                <a:solidFill>
                  <a:srgbClr val="718096"/>
                </a:solidFill>
                <a:latin typeface="Arial"/>
              </a:defRPr>
            </a:pPr>
            <a:r>
              <a:t>Kompetensi yang diharapkan setelah menyelesaikan silabus ini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000" b="1">
                <a:solidFill>
                  <a:srgbClr val="003060"/>
                </a:solidFill>
                <a:latin typeface="Arial"/>
              </a:defRPr>
            </a:pPr>
            <a:r>
              <a:t>•  Memahami Konsep Dasar BMC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  <a:latin typeface="Arial"/>
              </a:defRPr>
            </a:pPr>
            <a:r>
              <a:t>    Menjelaskan apa itu Business Model Canvas dan mengapa alat ini dipakai untuk melihat bisnis dalam satu halaman visual.</a:t>
            </a:r>
          </a:p>
          <a:p>
            <a:pPr>
              <a:spcBef>
                <a:spcPts val="1400"/>
              </a:spcBef>
              <a:defRPr sz="2000" b="1">
                <a:solidFill>
                  <a:srgbClr val="003060"/>
                </a:solidFill>
                <a:latin typeface="Arial"/>
              </a:defRPr>
            </a:pPr>
            <a:r>
              <a:t>•  Menguraikan Komponen Model Bisnis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  <a:latin typeface="Arial"/>
              </a:defRPr>
            </a:pPr>
            <a:r>
              <a:t>    Memetakan hubungan pelanggan, penawaran nilai, saluran, pendapatan, serta struktur biaya.</a:t>
            </a:r>
          </a:p>
          <a:p>
            <a:pPr>
              <a:spcBef>
                <a:spcPts val="1400"/>
              </a:spcBef>
              <a:defRPr sz="2000" b="1">
                <a:solidFill>
                  <a:srgbClr val="003060"/>
                </a:solidFill>
                <a:latin typeface="Arial"/>
              </a:defRPr>
            </a:pPr>
            <a:r>
              <a:t>•  Analisis Studi Kasus Nyata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  <a:latin typeface="Arial"/>
              </a:defRPr>
            </a:pPr>
            <a:r>
              <a:t>    Mampu membaca dan menyusun contoh model bisnis layanan LMS yang memiliki multi-segmen pengguna.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060"/>
                </a:solidFill>
                <a:latin typeface="Arial"/>
              </a:defRPr>
            </a:pPr>
            <a:r>
              <a:t>Apa Itu Business Model Canvas (BMC)?</a:t>
            </a:r>
          </a:p>
          <a:p>
            <a:pPr>
              <a:spcBef>
                <a:spcPts val="400"/>
              </a:spcBef>
              <a:defRPr sz="1400">
                <a:solidFill>
                  <a:srgbClr val="718096"/>
                </a:solidFill>
                <a:latin typeface="Arial"/>
              </a:defRPr>
            </a:pPr>
            <a:r>
              <a:t>Definisi dan esensi alat visual model bisnis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000" b="1">
                <a:solidFill>
                  <a:srgbClr val="003060"/>
                </a:solidFill>
                <a:latin typeface="Arial"/>
              </a:defRPr>
            </a:pPr>
            <a:r>
              <a:t>•  Visual One-Page Tool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  <a:latin typeface="Arial"/>
              </a:defRPr>
            </a:pPr>
            <a:r>
              <a:t>    Alat manajemen strategis untuk menggambarkan rancangan bisnis secara komprehensif tanpa dokumen bertele-tele puluhan halaman.</a:t>
            </a:r>
          </a:p>
          <a:p>
            <a:pPr>
              <a:spcBef>
                <a:spcPts val="1400"/>
              </a:spcBef>
              <a:defRPr sz="2000" b="1">
                <a:solidFill>
                  <a:srgbClr val="003060"/>
                </a:solidFill>
                <a:latin typeface="Arial"/>
              </a:defRPr>
            </a:pPr>
            <a:r>
              <a:t>•  Fokus Terhadap Nilai (Value)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  <a:latin typeface="Arial"/>
              </a:defRPr>
            </a:pPr>
            <a:r>
              <a:t>    Menjelaskan bagaimana organisasi menciptakan (creates), menyampaikan (delivers), dan menangkap (captures) nilai bagi konsumennya.</a:t>
            </a:r>
          </a:p>
          <a:p>
            <a:pPr>
              <a:spcBef>
                <a:spcPts val="1400"/>
              </a:spcBef>
              <a:defRPr sz="2000" b="1">
                <a:solidFill>
                  <a:srgbClr val="003060"/>
                </a:solidFill>
                <a:latin typeface="Arial"/>
              </a:defRPr>
            </a:pPr>
            <a:r>
              <a:t>•  Fleksibel &amp; Kolaboratif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  <a:latin typeface="Arial"/>
              </a:defRPr>
            </a:pPr>
            <a:r>
              <a:t>    Sangat efektif untuk brainstorming tim, uji hipotesis produk, dan iterasi cepat saat pengembangan modul bisnis baru.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060"/>
                </a:solidFill>
                <a:latin typeface="Arial"/>
              </a:defRPr>
            </a:pPr>
            <a:r>
              <a:t>Tiga Pertanyaan Inti Model Bisnis</a:t>
            </a:r>
          </a:p>
          <a:p>
            <a:pPr>
              <a:spcBef>
                <a:spcPts val="400"/>
              </a:spcBef>
              <a:defRPr sz="1400">
                <a:solidFill>
                  <a:srgbClr val="718096"/>
                </a:solidFill>
                <a:latin typeface="Arial"/>
              </a:defRPr>
            </a:pPr>
            <a:r>
              <a:t>Fokus utama yang harus dijawab dalam setiap canvas bisnis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000" b="1">
                <a:solidFill>
                  <a:srgbClr val="003060"/>
                </a:solidFill>
                <a:latin typeface="Arial"/>
              </a:defRPr>
            </a:pPr>
            <a:r>
              <a:t>•  1. Menciptakan Nilai (Create Value)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  <a:latin typeface="Arial"/>
              </a:defRPr>
            </a:pPr>
            <a:r>
              <a:t>    Apa produk/solusi unik yang ditawarkan kepada pelanggan dan bagaimana penawaran itu dihasilkan bersama mitra &amp; sumber daya utama?</a:t>
            </a:r>
          </a:p>
          <a:p>
            <a:pPr>
              <a:spcBef>
                <a:spcPts val="1400"/>
              </a:spcBef>
              <a:defRPr sz="2000" b="1">
                <a:solidFill>
                  <a:srgbClr val="003060"/>
                </a:solidFill>
                <a:latin typeface="Arial"/>
              </a:defRPr>
            </a:pPr>
            <a:r>
              <a:t>•  2. Menyampaikan Nilai (Deliver Value)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  <a:latin typeface="Arial"/>
              </a:defRPr>
            </a:pPr>
            <a:r>
              <a:t>    Bagaimana solusi sampai ke tangan pengguna melalui saluran (channels) dan relasi pelanggan (customer relationships)?</a:t>
            </a:r>
          </a:p>
          <a:p>
            <a:pPr>
              <a:spcBef>
                <a:spcPts val="1400"/>
              </a:spcBef>
              <a:defRPr sz="2000" b="1">
                <a:solidFill>
                  <a:srgbClr val="003060"/>
                </a:solidFill>
                <a:latin typeface="Arial"/>
              </a:defRPr>
            </a:pPr>
            <a:r>
              <a:t>•  3. Menangkap Nilai (Capture Value)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  <a:latin typeface="Arial"/>
              </a:defRPr>
            </a:pPr>
            <a:r>
              <a:t>    Bagaimana mekanisme monetisasi menghasilkan pendapatan (revenue streams) yang melampaui struktur biaya (cost structure)?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